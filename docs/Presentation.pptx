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95360" y="640080"/>
            <a:ext cx="640080" cy="146304"/>
          </a:xfrm>
          <a:prstGeom prst="round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01200" y="640080"/>
            <a:ext cx="640080" cy="146304"/>
          </a:xfrm>
          <a:prstGeom prst="round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607040" y="640080"/>
            <a:ext cx="640080" cy="146304"/>
          </a:xfrm>
          <a:prstGeom prst="roundRect">
            <a:avLst/>
          </a:prstGeom>
          <a:solidFill>
            <a:srgbClr val="8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515600" cy="1554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Context-Aware Trust and Sensor
Decision Support for IoT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9144000" cy="5486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000" b="0">
                <a:solidFill>
                  <a:srgbClr val="B8CDE8"/>
                </a:solidFill>
                <a:latin typeface="Aptos"/>
              </a:rP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694" y="5120640"/>
            <a:ext cx="10515600" cy="28931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400" b="0" dirty="0">
                <a:solidFill>
                  <a:srgbClr val="FFFFFF"/>
                </a:solidFill>
                <a:latin typeface="Aptos"/>
              </a:rPr>
              <a:t>Presented by: </a:t>
            </a:r>
            <a:r>
              <a:rPr lang="en-US" sz="1400" u="sng" dirty="0">
                <a:solidFill>
                  <a:srgbClr val="FFFFFF"/>
                </a:solidFill>
                <a:latin typeface="Aptos"/>
              </a:rPr>
              <a:t>Vishwas Kumar(23BCT0137)</a:t>
            </a:r>
            <a:r>
              <a:rPr lang="en-US" sz="1400" dirty="0">
                <a:solidFill>
                  <a:srgbClr val="FFFFFF"/>
                </a:solidFill>
                <a:latin typeface="Aptos"/>
              </a:rPr>
              <a:t> , </a:t>
            </a:r>
            <a:r>
              <a:rPr lang="en-US" sz="1400" u="sng" dirty="0">
                <a:solidFill>
                  <a:srgbClr val="FFFFFF"/>
                </a:solidFill>
                <a:latin typeface="Aptos"/>
              </a:rPr>
              <a:t>Aakriti Tiwari(23BCT0168)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    |     </a:t>
            </a:r>
            <a:r>
              <a:rPr lang="en-US" sz="1400" dirty="0">
                <a:solidFill>
                  <a:srgbClr val="FFFFFF"/>
                </a:solidFill>
                <a:latin typeface="Aptos"/>
              </a:rPr>
              <a:t>Course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: </a:t>
            </a:r>
            <a:r>
              <a:rPr lang="en-US" sz="1400" b="0" u="sng" dirty="0">
                <a:solidFill>
                  <a:srgbClr val="FFFFFF"/>
                </a:solidFill>
                <a:latin typeface="Aptos"/>
              </a:rPr>
              <a:t>Programming of IoT Board </a:t>
            </a:r>
            <a:endParaRPr sz="1400" b="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16223A"/>
                </a:solidFill>
                <a:latin typeface="Aptos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14400"/>
            <a:ext cx="960120" cy="50292"/>
          </a:xfrm>
          <a:prstGeom prst="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2585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 dirty="0">
                <a:solidFill>
                  <a:srgbClr val="647082"/>
                </a:solidFill>
                <a:latin typeface="Aptos"/>
              </a:rPr>
              <a:t>Why sensor readings need context</a:t>
            </a:r>
            <a:r>
              <a:rPr lang="en-US" sz="1200" b="0" dirty="0">
                <a:solidFill>
                  <a:srgbClr val="647082"/>
                </a:solidFill>
                <a:latin typeface="Aptos"/>
              </a:rPr>
              <a:t> ?</a:t>
            </a:r>
            <a:endParaRPr sz="1200" b="0" dirty="0">
              <a:solidFill>
                <a:srgbClr val="64708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000">
                <a:solidFill>
                  <a:srgbClr val="647082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" y="1677924"/>
            <a:ext cx="3273552" cy="3351276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82296" cy="342900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1752796"/>
            <a:ext cx="3090672" cy="33547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 dirty="0">
                <a:solidFill>
                  <a:srgbClr val="16223A"/>
                </a:solidFill>
                <a:latin typeface="Aptos"/>
              </a:rPr>
              <a:t>Unreliable readings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94560"/>
            <a:ext cx="3090672" cy="27157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0">
                <a:solidFill>
                  <a:srgbClr val="263041"/>
                </a:solidFill>
                <a:latin typeface="Aptos"/>
              </a:rPr>
              <a:t>Sensors may be faulty, delayed, or miscalibrated.
Network quality and timestamps affect reliability.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600200"/>
            <a:ext cx="3319272" cy="342900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600200"/>
            <a:ext cx="82296" cy="3429000"/>
          </a:xfrm>
          <a:prstGeom prst="rect">
            <a:avLst/>
          </a:prstGeom>
          <a:solidFill>
            <a:srgbClr val="8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737360"/>
            <a:ext cx="310896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 dirty="0">
                <a:solidFill>
                  <a:srgbClr val="16223A"/>
                </a:solidFill>
                <a:latin typeface="Aptos"/>
              </a:rPr>
              <a:t>Conflicting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090672" cy="27157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0">
                <a:solidFill>
                  <a:srgbClr val="263041"/>
                </a:solidFill>
                <a:latin typeface="Aptos"/>
              </a:rPr>
              <a:t>Sensors can report different values.
A simple average or fixed threshold may hide disagreement.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600200"/>
            <a:ext cx="3273552" cy="342900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82296" cy="3429000"/>
          </a:xfrm>
          <a:prstGeom prst="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737360"/>
            <a:ext cx="310896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 dirty="0">
                <a:solidFill>
                  <a:srgbClr val="16223A"/>
                </a:solidFill>
                <a:latin typeface="Aptos"/>
              </a:rPr>
              <a:t>Cautious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94560"/>
            <a:ext cx="3090672" cy="27157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0">
                <a:solidFill>
                  <a:srgbClr val="263041"/>
                </a:solidFill>
                <a:latin typeface="Aptos"/>
              </a:rPr>
              <a:t>Assess trust and confidence before responding.
Show understandable statuses and recommendations.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23560"/>
            <a:ext cx="10607040" cy="335476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 dirty="0">
                <a:solidFill>
                  <a:srgbClr val="16223A"/>
                </a:solidFill>
                <a:latin typeface="Aptos"/>
              </a:rPr>
              <a:t>Goal: </a:t>
            </a:r>
            <a:r>
              <a:rPr lang="en-US" sz="1700" b="1" dirty="0">
                <a:solidFill>
                  <a:srgbClr val="16223A"/>
                </a:solidFill>
                <a:latin typeface="Aptos"/>
              </a:rPr>
              <a:t>T</a:t>
            </a:r>
            <a:r>
              <a:rPr sz="1700" b="1" dirty="0">
                <a:solidFill>
                  <a:srgbClr val="16223A"/>
                </a:solidFill>
                <a:latin typeface="Aptos"/>
              </a:rPr>
              <a:t>urn raw sensor values into evidence-aware decision support—not unquestioned certainty.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700" b="1">
                <a:solidFill>
                  <a:srgbClr val="16223A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14400"/>
            <a:ext cx="960120" cy="50292"/>
          </a:xfrm>
          <a:prstGeom prst="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200" b="0">
                <a:solidFill>
                  <a:srgbClr val="647082"/>
                </a:solidFill>
                <a:latin typeface="Aptos"/>
              </a:defRPr>
            </a:pPr>
            <a:r>
              <a:t>Motivation for the proposed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000">
                <a:solidFill>
                  <a:srgbClr val="647082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74720" cy="356616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82296" cy="356616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55648"/>
            <a:ext cx="310896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6223A"/>
                </a:solidFill>
                <a:latin typeface="Aptos"/>
              </a:defRPr>
            </a:pPr>
            <a:r>
              <a:t>Existing approaches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40280"/>
            <a:ext cx="3090672" cy="2834639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600" b="0">
                <a:solidFill>
                  <a:srgbClr val="263041"/>
                </a:solidFill>
                <a:latin typeface="Aptos"/>
              </a:defRPr>
            </a:pPr>
            <a:r>
              <a:t>• Often depend on fixed thresholds or a single sensor.</a:t>
            </a:r>
            <a:br/>
            <a:br/>
            <a:r>
              <a:t>• May not clearly represent sensor disagreement.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00200"/>
            <a:ext cx="3474720" cy="356616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600200"/>
            <a:ext cx="82296" cy="3566160"/>
          </a:xfrm>
          <a:prstGeom prst="rect">
            <a:avLst/>
          </a:prstGeom>
          <a:solidFill>
            <a:srgbClr val="8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755648"/>
            <a:ext cx="310896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6223A"/>
                </a:solidFill>
                <a:latin typeface="Aptos"/>
              </a:defRPr>
            </a:pPr>
            <a:r>
              <a:t>Identified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40280"/>
            <a:ext cx="3090672" cy="2834639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600" b="0">
                <a:solidFill>
                  <a:srgbClr val="263041"/>
                </a:solidFill>
                <a:latin typeface="Aptos"/>
              </a:defRPr>
            </a:pPr>
            <a:r>
              <a:t>• Sensor trust, freshness, signal quality, and conflict may be assessed separately.</a:t>
            </a:r>
            <a:br/>
            <a:br/>
            <a:r>
              <a:t>• Decision confidence can be hard to interpret.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356616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82296" cy="3566160"/>
          </a:xfrm>
          <a:prstGeom prst="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755648"/>
            <a:ext cx="310896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6223A"/>
                </a:solidFill>
                <a:latin typeface="Aptos"/>
              </a:defRPr>
            </a:pPr>
            <a:r>
              <a:t>Our project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40280"/>
            <a:ext cx="3090672" cy="2834639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600" b="0">
                <a:solidFill>
                  <a:srgbClr val="263041"/>
                </a:solidFill>
                <a:latin typeface="Aptos"/>
              </a:defRPr>
            </a:pPr>
            <a:r>
              <a:t>• Combines contextual trust and conflict handling in a decision-support workflow.</a:t>
            </a:r>
            <a:br/>
            <a:br/>
            <a:r>
              <a:t>• Demonstrates both multi-sensor demo and per-sensor baseline monitoring.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2700" b="1">
                <a:solidFill>
                  <a:srgbClr val="16223A"/>
                </a:solidFill>
                <a:latin typeface="Aptos"/>
              </a:defRPr>
            </a:pPr>
            <a:r>
              <a:t>Novelty / Proposed Contribution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14400"/>
            <a:ext cx="960120" cy="50292"/>
          </a:xfrm>
          <a:prstGeom prst="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267766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200" b="0">
                <a:solidFill>
                  <a:srgbClr val="647082"/>
                </a:solidFill>
                <a:latin typeface="Aptos"/>
              </a:defRPr>
            </a:pPr>
            <a:r>
              <a:rPr dirty="0"/>
              <a:t>What is distinct in this prototype</a:t>
            </a:r>
            <a:r>
              <a:rPr lang="en-US" dirty="0"/>
              <a:t> ?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r>
              <a:rPr sz="1000">
                <a:solidFill>
                  <a:srgbClr val="647082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474720" cy="356616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82296" cy="356616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55648"/>
            <a:ext cx="310896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6223A"/>
                </a:solidFill>
                <a:latin typeface="Aptos"/>
              </a:defRPr>
            </a:pPr>
            <a:r>
              <a:t>Context-aware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40280"/>
            <a:ext cx="3090672" cy="2834639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600" b="0">
                <a:solidFill>
                  <a:srgbClr val="263041"/>
                </a:solidFill>
                <a:latin typeface="Aptos"/>
              </a:defRPr>
            </a:pPr>
            <a:r>
              <a:t>Trust evaluation considers more than the reading alone, including data freshness and quality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00200"/>
            <a:ext cx="3474720" cy="356616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600200"/>
            <a:ext cx="82296" cy="3566160"/>
          </a:xfrm>
          <a:prstGeom prst="rect">
            <a:avLst/>
          </a:prstGeom>
          <a:solidFill>
            <a:srgbClr val="8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755648"/>
            <a:ext cx="310896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6223A"/>
                </a:solidFill>
                <a:latin typeface="Aptos"/>
              </a:defRPr>
            </a:pPr>
            <a:r>
              <a:t>Conflict-aware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40280"/>
            <a:ext cx="3090672" cy="2834639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600" b="0">
                <a:solidFill>
                  <a:srgbClr val="263041"/>
                </a:solidFill>
                <a:latin typeface="Aptos"/>
              </a:defRPr>
            </a:pPr>
            <a:r>
              <a:t>When sensors disagree, the system uses trust, consensus, and confidence to support Execute / Request Data / Defer.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356616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82296" cy="3566160"/>
          </a:xfrm>
          <a:prstGeom prst="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755648"/>
            <a:ext cx="310896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700" b="1">
                <a:solidFill>
                  <a:srgbClr val="16223A"/>
                </a:solidFill>
                <a:latin typeface="Aptos"/>
              </a:defRPr>
            </a:pPr>
            <a:r>
              <a:t>Two linked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40280"/>
            <a:ext cx="3090672" cy="2834639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defRPr sz="1600" b="0">
                <a:solidFill>
                  <a:srgbClr val="263041"/>
                </a:solidFill>
                <a:latin typeface="Aptos"/>
              </a:defRPr>
            </a:pPr>
            <a:r>
              <a:t>PRESS-04 temperature demo plus configurable per-sensor baseline evaluation, surfaced through one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16223A"/>
                </a:solidFill>
                <a:latin typeface="Aptos"/>
              </a:rPr>
              <a:t>Project Aim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14400"/>
            <a:ext cx="960120" cy="50292"/>
          </a:xfrm>
          <a:prstGeom prst="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258532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 dirty="0">
                <a:solidFill>
                  <a:srgbClr val="647082"/>
                </a:solidFill>
                <a:latin typeface="Aptos"/>
              </a:rPr>
              <a:t>What the prototype demonstrates</a:t>
            </a:r>
            <a:r>
              <a:rPr lang="en-US" sz="1200" b="0" dirty="0">
                <a:solidFill>
                  <a:srgbClr val="647082"/>
                </a:solidFill>
                <a:latin typeface="Aptos"/>
              </a:rPr>
              <a:t> ?</a:t>
            </a:r>
            <a:endParaRPr sz="1200" b="0" dirty="0">
              <a:solidFill>
                <a:srgbClr val="647082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000">
                <a:solidFill>
                  <a:srgbClr val="647082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424160" cy="73152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000" b="1" dirty="0">
                <a:solidFill>
                  <a:srgbClr val="16223A"/>
                </a:solidFill>
                <a:latin typeface="Aptos"/>
              </a:rPr>
              <a:t>Aim: evaluate sensor data quality and disagreement, then provide a cautious, explainable recommendation.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41"/>
                </a:solidFill>
                <a:latin typeface="Aptos"/>
              </a:defRPr>
            </a:pPr>
            <a:r>
              <a:t>•  Simulate temperature sensors and fault scenarios.</a:t>
            </a:r>
          </a:p>
          <a:p>
            <a:pPr>
              <a:spcAft>
                <a:spcPts val="1200"/>
              </a:spcAft>
              <a:defRPr sz="1800">
                <a:solidFill>
                  <a:srgbClr val="263041"/>
                </a:solidFill>
                <a:latin typeface="Aptos"/>
              </a:defRPr>
            </a:pPr>
            <a:r>
              <a:t>•  Estimate trust using historical reliability and current context.</a:t>
            </a:r>
          </a:p>
          <a:p>
            <a:pPr>
              <a:spcAft>
                <a:spcPts val="1200"/>
              </a:spcAft>
              <a:defRPr sz="1800">
                <a:solidFill>
                  <a:srgbClr val="263041"/>
                </a:solidFill>
                <a:latin typeface="Aptos"/>
              </a:defRPr>
            </a:pPr>
            <a:r>
              <a:t>•  Detect conflicting observations and calculate decision confidence.</a:t>
            </a:r>
          </a:p>
          <a:p>
            <a:pPr>
              <a:spcAft>
                <a:spcPts val="1200"/>
              </a:spcAft>
              <a:defRPr sz="1800">
                <a:solidFill>
                  <a:srgbClr val="263041"/>
                </a:solidFill>
                <a:latin typeface="Aptos"/>
              </a:defRPr>
            </a:pPr>
            <a:r>
              <a:t>•  Support user-configured sensors with independent baselines.</a:t>
            </a:r>
          </a:p>
          <a:p>
            <a:pPr>
              <a:spcAft>
                <a:spcPts val="1200"/>
              </a:spcAft>
              <a:defRPr sz="1800">
                <a:solidFill>
                  <a:srgbClr val="263041"/>
                </a:solidFill>
                <a:latin typeface="Aptos"/>
              </a:defRPr>
            </a:pPr>
            <a:r>
              <a:t>•  Display results through a web dashboard and REST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16223A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14400"/>
            <a:ext cx="960120" cy="50292"/>
          </a:xfrm>
          <a:prstGeom prst="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47082"/>
                </a:solidFill>
                <a:latin typeface="Aptos"/>
              </a:rPr>
              <a:t>Two workflows share the API, database, and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000">
                <a:solidFill>
                  <a:srgbClr val="647082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246120" cy="594360"/>
          </a:xfrm>
          <a:prstGeom prst="roundRect">
            <a:avLst/>
          </a:prstGeom>
          <a:solidFill>
            <a:srgbClr val="E8F1FF"/>
          </a:solidFill>
          <a:ln w="16510">
            <a:solidFill>
              <a:srgbClr val="37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1">
                <a:solidFill>
                  <a:srgbClr val="16223A"/>
                </a:solidFill>
                <a:latin typeface="Aptos"/>
              </a:rPr>
              <a:t>Sensor Input /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240280"/>
            <a:ext cx="3246120" cy="594360"/>
          </a:xfrm>
          <a:prstGeom prst="roundRect">
            <a:avLst/>
          </a:prstGeom>
          <a:solidFill>
            <a:srgbClr val="EDF7FF"/>
          </a:solidFill>
          <a:ln w="16510">
            <a:solidFill>
              <a:srgbClr val="1F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16223A"/>
                </a:solidFill>
                <a:latin typeface="Aptos"/>
              </a:rPr>
              <a:t>FastAPI • Validation • Services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53328" y="2011680"/>
            <a:ext cx="0" cy="228600"/>
          </a:xfrm>
          <a:prstGeom prst="line">
            <a:avLst/>
          </a:prstGeom>
          <a:ln w="19050">
            <a:solidFill>
              <a:srgbClr val="647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" y="3337560"/>
            <a:ext cx="4572000" cy="777240"/>
          </a:xfrm>
          <a:prstGeom prst="roundRect">
            <a:avLst/>
          </a:prstGeom>
          <a:solidFill>
            <a:srgbClr val="F5EDFF"/>
          </a:solidFill>
          <a:ln w="16510">
            <a:solidFill>
              <a:srgbClr val="845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1">
                <a:solidFill>
                  <a:srgbClr val="16223A"/>
                </a:solidFill>
                <a:latin typeface="Aptos"/>
              </a:rPr>
              <a:t>PRESS-04 Temperature Demo
Trust • Conflict • Confidence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337560"/>
            <a:ext cx="4572000" cy="777240"/>
          </a:xfrm>
          <a:prstGeom prst="roundRect">
            <a:avLst/>
          </a:prstGeom>
          <a:solidFill>
            <a:srgbClr val="FFF8E8"/>
          </a:solidFill>
          <a:ln w="16510">
            <a:solidFill>
              <a:srgbClr val="DEA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1">
                <a:solidFill>
                  <a:srgbClr val="16223A"/>
                </a:solidFill>
                <a:latin typeface="Aptos"/>
              </a:rPr>
              <a:t>Configured Sensor Workflow
Sensor ID • History • Baseline Status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108960" y="2834640"/>
            <a:ext cx="1920240" cy="502920"/>
          </a:xfrm>
          <a:prstGeom prst="line">
            <a:avLst/>
          </a:prstGeom>
          <a:ln w="19050">
            <a:solidFill>
              <a:srgbClr val="647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086600" y="2834640"/>
            <a:ext cx="1965960" cy="502920"/>
          </a:xfrm>
          <a:prstGeom prst="line">
            <a:avLst/>
          </a:prstGeom>
          <a:ln w="19050">
            <a:solidFill>
              <a:srgbClr val="647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34840" y="4617720"/>
            <a:ext cx="3246120" cy="640080"/>
          </a:xfrm>
          <a:prstGeom prst="roundRect">
            <a:avLst/>
          </a:prstGeom>
          <a:solidFill>
            <a:srgbClr val="FFF2CC"/>
          </a:solidFill>
          <a:ln w="16510">
            <a:solidFill>
              <a:srgbClr val="DEA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1">
                <a:solidFill>
                  <a:srgbClr val="16223A"/>
                </a:solidFill>
                <a:latin typeface="Aptos"/>
              </a:rPr>
              <a:t>SQLite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5532120"/>
            <a:ext cx="3246120" cy="594360"/>
          </a:xfrm>
          <a:prstGeom prst="roundRect">
            <a:avLst/>
          </a:prstGeom>
          <a:solidFill>
            <a:srgbClr val="E5F5E0"/>
          </a:solidFill>
          <a:ln w="16510">
            <a:solidFill>
              <a:srgbClr val="499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600" b="1">
                <a:solidFill>
                  <a:srgbClr val="16223A"/>
                </a:solidFill>
                <a:latin typeface="Aptos"/>
              </a:rPr>
              <a:t>React Dashboard / Results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108960" y="4114800"/>
            <a:ext cx="1874520" cy="502920"/>
          </a:xfrm>
          <a:prstGeom prst="line">
            <a:avLst/>
          </a:prstGeom>
          <a:ln w="19050">
            <a:solidFill>
              <a:srgbClr val="647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132320" y="4114800"/>
            <a:ext cx="1920240" cy="502920"/>
          </a:xfrm>
          <a:prstGeom prst="line">
            <a:avLst/>
          </a:prstGeom>
          <a:ln w="19050">
            <a:solidFill>
              <a:srgbClr val="647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53328" y="5257800"/>
            <a:ext cx="0" cy="274320"/>
          </a:xfrm>
          <a:prstGeom prst="line">
            <a:avLst/>
          </a:prstGeom>
          <a:ln w="19050">
            <a:solidFill>
              <a:srgbClr val="647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16223A"/>
                </a:solidFill>
                <a:latin typeface="Aptos"/>
              </a:rPr>
              <a:t>Two Core Workflows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14400"/>
            <a:ext cx="960120" cy="50292"/>
          </a:xfrm>
          <a:prstGeom prst="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47082"/>
                </a:solidFill>
                <a:latin typeface="Aptos"/>
              </a:rPr>
              <a:t>Keep the demo path distinct from configured sensors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000">
                <a:solidFill>
                  <a:srgbClr val="647082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57800" cy="434340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82296" cy="4343400"/>
          </a:xfrm>
          <a:prstGeom prst="rect">
            <a:avLst/>
          </a:prstGeom>
          <a:solidFill>
            <a:srgbClr val="8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45919"/>
            <a:ext cx="489204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16223A"/>
                </a:solidFill>
                <a:latin typeface="Aptos"/>
              </a:rPr>
              <a:t>1. PRESS-04 Temperature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4873752" cy="3630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0">
                <a:solidFill>
                  <a:srgbClr val="263041"/>
                </a:solidFill>
                <a:latin typeface="Aptos"/>
              </a:rPr>
              <a:t>Virtual sensor observations
↓
Preprocessing and conflict detection
↓
Trust + consensus + confidence
↓
EXECUTE / REQUEST DATA / DEFER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257800" cy="434340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82296" cy="4343400"/>
          </a:xfrm>
          <a:prstGeom prst="rect">
            <a:avLst/>
          </a:prstGeom>
          <a:solidFill>
            <a:srgbClr val="DEA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645919"/>
            <a:ext cx="489204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16223A"/>
                </a:solidFill>
                <a:latin typeface="Aptos"/>
              </a:rPr>
              <a:t>2. Configured Sensor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03120"/>
            <a:ext cx="4873752" cy="36301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0">
                <a:solidFill>
                  <a:srgbClr val="263041"/>
                </a:solidFill>
                <a:latin typeface="Aptos"/>
              </a:rPr>
              <a:t>User creates sensor profile
↓
Submit timestamped reading
↓
Compare against per-sensor recent baseline
↓
Learning / Usual / Unusual / Stale / Low quality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16223A"/>
                </a:solidFill>
                <a:latin typeface="Aptos"/>
              </a:rPr>
              <a:t>Trust &amp; Decision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14400"/>
            <a:ext cx="960120" cy="50292"/>
          </a:xfrm>
          <a:prstGeom prst="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47082"/>
                </a:solidFill>
                <a:latin typeface="Aptos"/>
              </a:rPr>
              <a:t>Conceptual processing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000">
                <a:solidFill>
                  <a:srgbClr val="647082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1920240" cy="914400"/>
          </a:xfrm>
          <a:prstGeom prst="roundRect">
            <a:avLst/>
          </a:prstGeom>
          <a:solidFill>
            <a:srgbClr val="F1F6FC"/>
          </a:solidFill>
          <a:ln w="16510">
            <a:solidFill>
              <a:srgbClr val="1F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16223A"/>
                </a:solidFill>
                <a:latin typeface="Aptos"/>
              </a:rPr>
              <a:t>Validate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148840"/>
            <a:ext cx="2103120" cy="914400"/>
          </a:xfrm>
          <a:prstGeom prst="roundRect">
            <a:avLst/>
          </a:prstGeom>
          <a:solidFill>
            <a:srgbClr val="F1F6FC"/>
          </a:solidFill>
          <a:ln w="16510">
            <a:solidFill>
              <a:srgbClr val="1F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16223A"/>
                </a:solidFill>
                <a:latin typeface="Aptos"/>
              </a:rPr>
              <a:t>Freshness &amp;
signal quality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2148840"/>
            <a:ext cx="2103120" cy="914400"/>
          </a:xfrm>
          <a:prstGeom prst="roundRect">
            <a:avLst/>
          </a:prstGeom>
          <a:solidFill>
            <a:srgbClr val="F1F6FC"/>
          </a:solidFill>
          <a:ln w="16510">
            <a:solidFill>
              <a:srgbClr val="1F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16223A"/>
                </a:solidFill>
                <a:latin typeface="Aptos"/>
              </a:rPr>
              <a:t>Conflict &amp;
clusters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148840"/>
            <a:ext cx="2103120" cy="914400"/>
          </a:xfrm>
          <a:prstGeom prst="roundRect">
            <a:avLst/>
          </a:prstGeom>
          <a:solidFill>
            <a:srgbClr val="F1F6FC"/>
          </a:solidFill>
          <a:ln w="16510">
            <a:solidFill>
              <a:srgbClr val="1F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16223A"/>
                </a:solidFill>
                <a:latin typeface="Aptos"/>
              </a:rPr>
              <a:t>Trust &amp;
confidence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21240" y="2148840"/>
            <a:ext cx="1691640" cy="914400"/>
          </a:xfrm>
          <a:prstGeom prst="roundRect">
            <a:avLst/>
          </a:prstGeom>
          <a:solidFill>
            <a:srgbClr val="F1F6FC"/>
          </a:solidFill>
          <a:ln w="16510">
            <a:solidFill>
              <a:srgbClr val="1F99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400" b="1">
                <a:solidFill>
                  <a:srgbClr val="16223A"/>
                </a:solidFill>
                <a:latin typeface="Aptos"/>
              </a:rPr>
              <a:t>Select
response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14600" y="2606040"/>
            <a:ext cx="274320" cy="0"/>
          </a:xfrm>
          <a:prstGeom prst="line">
            <a:avLst/>
          </a:prstGeom>
          <a:ln w="19050">
            <a:solidFill>
              <a:srgbClr val="647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92040" y="2606040"/>
            <a:ext cx="274320" cy="0"/>
          </a:xfrm>
          <a:prstGeom prst="line">
            <a:avLst/>
          </a:prstGeom>
          <a:ln w="19050">
            <a:solidFill>
              <a:srgbClr val="647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69480" y="2606040"/>
            <a:ext cx="274320" cy="0"/>
          </a:xfrm>
          <a:prstGeom prst="line">
            <a:avLst/>
          </a:prstGeom>
          <a:ln w="19050">
            <a:solidFill>
              <a:srgbClr val="647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46920" y="2606040"/>
            <a:ext cx="274320" cy="0"/>
          </a:xfrm>
          <a:prstGeom prst="line">
            <a:avLst/>
          </a:prstGeom>
          <a:ln w="19050">
            <a:solidFill>
              <a:srgbClr val="6470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3886200"/>
            <a:ext cx="315468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" y="3886200"/>
            <a:ext cx="82296" cy="1417320"/>
          </a:xfrm>
          <a:prstGeom prst="rect">
            <a:avLst/>
          </a:prstGeom>
          <a:solidFill>
            <a:srgbClr val="499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15568" y="4023360"/>
            <a:ext cx="278892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16223A"/>
                </a:solidFill>
                <a:latin typeface="Aptos"/>
              </a:rPr>
              <a:t>High confidence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480560"/>
            <a:ext cx="2770632" cy="70408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0">
                <a:solidFill>
                  <a:srgbClr val="263041"/>
                </a:solidFill>
                <a:latin typeface="Aptos"/>
              </a:rPr>
              <a:t>Execute simulated intent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886200"/>
            <a:ext cx="315468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26280" y="3886200"/>
            <a:ext cx="82296" cy="1417320"/>
          </a:xfrm>
          <a:prstGeom prst="rect">
            <a:avLst/>
          </a:prstGeom>
          <a:solidFill>
            <a:srgbClr val="DEA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27448" y="4023360"/>
            <a:ext cx="278892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16223A"/>
                </a:solidFill>
                <a:latin typeface="Aptos"/>
              </a:rPr>
              <a:t>Medium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4480560"/>
            <a:ext cx="2770632" cy="70408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0">
                <a:solidFill>
                  <a:srgbClr val="263041"/>
                </a:solidFill>
                <a:latin typeface="Aptos"/>
              </a:rPr>
              <a:t>Request additional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886200"/>
            <a:ext cx="3154680" cy="141732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38160" y="3886200"/>
            <a:ext cx="82296" cy="1417320"/>
          </a:xfrm>
          <a:prstGeom prst="rect">
            <a:avLst/>
          </a:prstGeom>
          <a:solidFill>
            <a:srgbClr val="C2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9328" y="4023360"/>
            <a:ext cx="278892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16223A"/>
                </a:solidFill>
                <a:latin typeface="Aptos"/>
              </a:rPr>
              <a:t>Low confidence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480560"/>
            <a:ext cx="2770632" cy="70408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0">
                <a:solidFill>
                  <a:srgbClr val="263041"/>
                </a:solidFill>
                <a:latin typeface="Aptos"/>
              </a:rPr>
              <a:t>Defer / human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500" b="0">
                <a:solidFill>
                  <a:srgbClr val="647082"/>
                </a:solidFill>
                <a:latin typeface="Aptos"/>
              </a:rPr>
              <a:t>Trust is recalculated from evidence; a score is not a guarantee of correctness.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16223A"/>
                </a:solidFill>
                <a:latin typeface="Aptos"/>
              </a:rPr>
              <a:t>Implementation &amp; Technology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14400"/>
            <a:ext cx="960120" cy="50292"/>
          </a:xfrm>
          <a:prstGeom prst="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47082"/>
                </a:solidFill>
                <a:latin typeface="Aptos"/>
              </a:rPr>
              <a:t>Local software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000">
                <a:solidFill>
                  <a:srgbClr val="647082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82296" cy="182880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45919"/>
            <a:ext cx="484632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16223A"/>
                </a:solidFill>
                <a:latin typeface="Aptos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4828032" cy="11155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800" b="0">
                <a:solidFill>
                  <a:srgbClr val="263041"/>
                </a:solidFill>
                <a:latin typeface="Aptos"/>
              </a:rPr>
              <a:t>Python • FastAPI • Pydantic
SQLAlchemy • SQLite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212080" cy="182880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82296" cy="1828800"/>
          </a:xfrm>
          <a:prstGeom prst="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645919"/>
            <a:ext cx="484632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16223A"/>
                </a:solidFill>
                <a:latin typeface="Aptos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03120"/>
            <a:ext cx="4828032" cy="11155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800" b="0">
                <a:solidFill>
                  <a:srgbClr val="263041"/>
                </a:solidFill>
                <a:latin typeface="Aptos"/>
              </a:rPr>
              <a:t>React • TypeScript • Vite
Tailwind CSS • Recharts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5212080" cy="169164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657600"/>
            <a:ext cx="82296" cy="1691640"/>
          </a:xfrm>
          <a:prstGeom prst="rect">
            <a:avLst/>
          </a:prstGeom>
          <a:solidFill>
            <a:srgbClr val="8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94760"/>
            <a:ext cx="484632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16223A"/>
                </a:solidFill>
                <a:latin typeface="Aptos"/>
              </a:rPr>
              <a:t>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251960"/>
            <a:ext cx="4828032" cy="566309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263041"/>
                </a:solidFill>
                <a:latin typeface="Aptos"/>
              </a:rPr>
              <a:t>pytest</a:t>
            </a:r>
            <a:r>
              <a:rPr sz="1600" b="0" dirty="0">
                <a:solidFill>
                  <a:srgbClr val="263041"/>
                </a:solidFill>
                <a:latin typeface="Aptos"/>
              </a:rPr>
              <a:t> for backend behavior</a:t>
            </a:r>
            <a:r>
              <a:rPr lang="en-US" sz="1600" b="0" dirty="0">
                <a:solidFill>
                  <a:srgbClr val="263041"/>
                </a:solidFill>
                <a:latin typeface="Aptos"/>
              </a:rPr>
              <a:t>.</a:t>
            </a:r>
            <a:r>
              <a:rPr sz="1600" b="0" dirty="0">
                <a:solidFill>
                  <a:srgbClr val="263041"/>
                </a:solidFill>
                <a:latin typeface="Aptos"/>
              </a:rPr>
              <a:t>
Frontend build and TypeScript check</a:t>
            </a:r>
            <a:r>
              <a:rPr lang="en-US" sz="1600" b="0" dirty="0">
                <a:solidFill>
                  <a:srgbClr val="263041"/>
                </a:solidFill>
                <a:latin typeface="Aptos"/>
              </a:rPr>
              <a:t>.</a:t>
            </a:r>
            <a:endParaRPr sz="1600" b="0" dirty="0">
              <a:solidFill>
                <a:srgbClr val="263041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3657600"/>
            <a:ext cx="5212080" cy="169164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82296" cy="1691640"/>
          </a:xfrm>
          <a:prstGeom prst="rect">
            <a:avLst/>
          </a:prstGeom>
          <a:solidFill>
            <a:srgbClr val="DEA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794760"/>
            <a:ext cx="484632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16223A"/>
                </a:solidFill>
                <a:latin typeface="Aptos"/>
              </a:rPr>
              <a:t>Prototype Setup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251960"/>
            <a:ext cx="4828032" cy="566309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263041"/>
                </a:solidFill>
                <a:latin typeface="Aptos"/>
              </a:rPr>
              <a:t>Runs locally; virtual sensors used</a:t>
            </a:r>
            <a:r>
              <a:rPr lang="en-US" sz="1600" b="0" dirty="0">
                <a:solidFill>
                  <a:srgbClr val="263041"/>
                </a:solidFill>
                <a:latin typeface="Aptos"/>
              </a:rPr>
              <a:t>.</a:t>
            </a:r>
            <a:r>
              <a:rPr sz="1600" b="0" dirty="0">
                <a:solidFill>
                  <a:srgbClr val="263041"/>
                </a:solidFill>
                <a:latin typeface="Aptos"/>
              </a:rPr>
              <a:t>
Physical hardware is not required</a:t>
            </a:r>
            <a:r>
              <a:rPr lang="en-US" sz="1600" b="0" dirty="0">
                <a:solidFill>
                  <a:srgbClr val="263041"/>
                </a:solidFill>
                <a:latin typeface="Aptos"/>
              </a:rPr>
              <a:t>.</a:t>
            </a:r>
            <a:endParaRPr sz="1600" b="0" dirty="0">
              <a:solidFill>
                <a:srgbClr val="26304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16223A"/>
                </a:solidFill>
                <a:latin typeface="Aptos"/>
              </a:rPr>
              <a:t>Testing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14400"/>
            <a:ext cx="960120" cy="50292"/>
          </a:xfrm>
          <a:prstGeom prst="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47082"/>
                </a:solidFill>
                <a:latin typeface="Aptos"/>
              </a:rPr>
              <a:t>Software verification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000">
                <a:solidFill>
                  <a:srgbClr val="647082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4572000" cy="5943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500" b="1">
                <a:solidFill>
                  <a:srgbClr val="499969"/>
                </a:solidFill>
                <a:latin typeface="Aptos"/>
              </a:rPr>
              <a:t>15 backend tests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937760" cy="59708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sz="1700" b="0" dirty="0">
                <a:solidFill>
                  <a:srgbClr val="263041"/>
                </a:solidFill>
                <a:latin typeface="Aptos"/>
              </a:rPr>
              <a:t>Frontend production build + TypeScript check: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3041"/>
                </a:solidFill>
                <a:latin typeface="Aptos"/>
              </a:defRPr>
            </a:pPr>
            <a:r>
              <a:t>•  Normal and faulty sensor scenarios</a:t>
            </a:r>
          </a:p>
          <a:p>
            <a:pPr>
              <a:spcAft>
                <a:spcPts val="1200"/>
              </a:spcAft>
              <a:defRPr sz="1600">
                <a:solidFill>
                  <a:srgbClr val="263041"/>
                </a:solidFill>
                <a:latin typeface="Aptos"/>
              </a:defRPr>
            </a:pPr>
            <a:r>
              <a:t>•  Conflict and confidence decision bands</a:t>
            </a:r>
          </a:p>
          <a:p>
            <a:pPr>
              <a:spcAft>
                <a:spcPts val="1200"/>
              </a:spcAft>
              <a:defRPr sz="1600">
                <a:solidFill>
                  <a:srgbClr val="263041"/>
                </a:solidFill>
                <a:latin typeface="Aptos"/>
              </a:defRPr>
            </a:pPr>
            <a:r>
              <a:t>•  Baseline learning and unusual readings</a:t>
            </a:r>
          </a:p>
          <a:p>
            <a:pPr>
              <a:spcAft>
                <a:spcPts val="1200"/>
              </a:spcAft>
              <a:defRPr sz="1600">
                <a:solidFill>
                  <a:srgbClr val="263041"/>
                </a:solidFill>
                <a:latin typeface="Aptos"/>
              </a:defRPr>
            </a:pPr>
            <a:r>
              <a:t>•  Stale data and invalid sensor 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120640" cy="393192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82296" cy="3931920"/>
          </a:xfrm>
          <a:prstGeom prst="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19088" y="1645919"/>
            <a:ext cx="4754879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16223A"/>
                </a:solidFill>
                <a:latin typeface="Aptos"/>
              </a:rPr>
              <a:t>What the results show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03120"/>
            <a:ext cx="4736592" cy="3218687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0" dirty="0">
                <a:solidFill>
                  <a:srgbClr val="263041"/>
                </a:solidFill>
                <a:latin typeface="Aptos"/>
              </a:rPr>
              <a:t>The prototype behaves as expected for tested software scenarios.
It demonstrates workflow and decision logic—not accuracy on real sensor data, production-scale performance, or safety certification.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486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2700" b="1">
                <a:solidFill>
                  <a:srgbClr val="16223A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914400"/>
            <a:ext cx="960120" cy="50292"/>
          </a:xfrm>
          <a:prstGeom prst="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32004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200" b="0">
                <a:solidFill>
                  <a:srgbClr val="647082"/>
                </a:solidFill>
                <a:latin typeface="Aptos"/>
              </a:rPr>
              <a:t>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r>
              <a:rPr sz="1000">
                <a:solidFill>
                  <a:srgbClr val="647082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342900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82296" cy="3429000"/>
          </a:xfrm>
          <a:prstGeom prst="rect">
            <a:avLst/>
          </a:prstGeom>
          <a:solidFill>
            <a:srgbClr val="1F9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45919"/>
            <a:ext cx="484632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16223A"/>
                </a:solidFill>
                <a:latin typeface="Aptos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4828032" cy="27157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0">
                <a:solidFill>
                  <a:srgbClr val="263041"/>
                </a:solidFill>
                <a:latin typeface="Aptos"/>
              </a:rPr>
              <a:t>• Sensor data should be evaluated in context.
• Trust and confidence help explain uncertain evidence.
• Two distinct workflows are demonstrated in one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212080" cy="3429000"/>
          </a:xfrm>
          <a:prstGeom prst="roundRect">
            <a:avLst/>
          </a:prstGeom>
          <a:solidFill>
            <a:srgbClr val="F1F6FC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82296" cy="3429000"/>
          </a:xfrm>
          <a:prstGeom prst="rect">
            <a:avLst/>
          </a:prstGeom>
          <a:solidFill>
            <a:srgbClr val="845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645919"/>
            <a:ext cx="4846320" cy="365760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700" b="1">
                <a:solidFill>
                  <a:srgbClr val="16223A"/>
                </a:solidFill>
                <a:latin typeface="Aptos"/>
              </a:rP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103120"/>
            <a:ext cx="4828032" cy="271576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0">
                <a:solidFill>
                  <a:srgbClr val="263041"/>
                </a:solidFill>
                <a:latin typeface="Aptos"/>
              </a:rPr>
              <a:t>• Connect real sensors / ESP32.
• Validate thresholds using real datasets.
• Add authentication, security, and deployment hardening.
• Evaluate performance in real conditions.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32120"/>
            <a:ext cx="10515600" cy="320088"/>
          </a:xfrm>
          <a:prstGeom prst="rect">
            <a:avLst/>
          </a:prstGeom>
          <a:noFill/>
        </p:spPr>
        <p:txBody>
          <a:bodyPr wrap="square" lIns="54864" tIns="36576" rIns="54864" bIns="36576">
            <a:spAutoFit/>
          </a:bodyPr>
          <a:lstStyle/>
          <a:p>
            <a:pPr algn="l"/>
            <a:r>
              <a:rPr sz="1600" b="1" dirty="0">
                <a:solidFill>
                  <a:srgbClr val="C25353"/>
                </a:solidFill>
                <a:latin typeface="Aptos"/>
              </a:rPr>
              <a:t>Limitation: </a:t>
            </a:r>
            <a:r>
              <a:rPr lang="en-US" sz="1600" b="1" dirty="0">
                <a:solidFill>
                  <a:srgbClr val="C25353"/>
                </a:solidFill>
                <a:latin typeface="Aptos"/>
              </a:rPr>
              <a:t>Currently </a:t>
            </a:r>
            <a:r>
              <a:rPr sz="1600" b="1" dirty="0">
                <a:solidFill>
                  <a:srgbClr val="C25353"/>
                </a:solidFill>
                <a:latin typeface="Aptos"/>
              </a:rPr>
              <a:t>this is a local decision-support prototype, not a certified safety-control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764</Words>
  <Application>Microsoft Macintosh PowerPoint</Application>
  <PresentationFormat>Widescreen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Vishwas Kumar</cp:lastModifiedBy>
  <cp:revision>2</cp:revision>
  <dcterms:created xsi:type="dcterms:W3CDTF">2013-01-27T09:14:16Z</dcterms:created>
  <dcterms:modified xsi:type="dcterms:W3CDTF">2026-10-23T18:23:49Z</dcterms:modified>
  <cp:category/>
</cp:coreProperties>
</file>